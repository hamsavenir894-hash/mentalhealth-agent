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9" r:id="rId5"/>
    <p:sldId id="284" r:id="rId6"/>
    <p:sldId id="285" r:id="rId7"/>
    <p:sldId id="290" r:id="rId8"/>
    <p:sldId id="281" r:id="rId9"/>
    <p:sldId id="291" r:id="rId10"/>
    <p:sldId id="279" r:id="rId11"/>
    <p:sldId id="262" r:id="rId12"/>
    <p:sldId id="264" r:id="rId13"/>
    <p:sldId id="292" r:id="rId14"/>
    <p:sldId id="278" r:id="rId15"/>
    <p:sldId id="293" r:id="rId16"/>
    <p:sldId id="277" r:id="rId17"/>
    <p:sldId id="286" r:id="rId18"/>
    <p:sldId id="288" r:id="rId19"/>
    <p:sldId id="287" r:id="rId20"/>
    <p:sldId id="280"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71B1D-1EC1-446E-BFD7-DA9F0C0C0F1D}" v="14" dt="2026-05-10T08:07:13.40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hamsavenir894@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hamsavenir894-hash/MentalHealth-Agen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latin typeface="Times New Roman" panose="02020603050405020304" pitchFamily="18" charset="0"/>
                <a:cs typeface="Times New Roman" panose="02020603050405020304" pitchFamily="18" charset="0"/>
              </a:rPr>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463179254"/>
              </p:ext>
            </p:extLst>
          </p:nvPr>
        </p:nvGraphicFramePr>
        <p:xfrm>
          <a:off x="1299255" y="2124453"/>
          <a:ext cx="9394989" cy="382259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716690">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Student Name</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Recent Passport Photo</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Email ID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Mobile number</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[WhatsApp]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105903">
                <a:tc>
                  <a:txBody>
                    <a:bodyPr/>
                    <a:lstStyle/>
                    <a:p>
                      <a:pPr marL="0" marR="0" lvl="0" indent="0" algn="l" rtl="0">
                        <a:spcBef>
                          <a:spcPts val="0"/>
                        </a:spcBef>
                        <a:spcAft>
                          <a:spcPts val="0"/>
                        </a:spcAft>
                        <a:buNone/>
                      </a:pPr>
                      <a:r>
                        <a:rPr lang="en-US"/>
                        <a:t>Hamsaveni 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hamsavenir894@gmail</a:t>
                      </a:r>
                      <a:r>
                        <a:rPr lang="en-US">
                          <a:hlinkClick r:id="rId3"/>
                        </a:rPr>
                        <a:t>.com</a:t>
                      </a:r>
                      <a:r>
                        <a:rPr lang="en-US"/>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9148483351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34901" y="1420739"/>
            <a:ext cx="102802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Domain of  Project – </a:t>
            </a:r>
            <a:r>
              <a:rPr lang="en-IN" sz="2400" b="1" dirty="0">
                <a:latin typeface="Times New Roman" panose="02020603050405020304" pitchFamily="18" charset="0"/>
                <a:cs typeface="Times New Roman" panose="02020603050405020304" pitchFamily="18" charset="0"/>
              </a:rPr>
              <a:t>Healthcare &amp; Mental Wellness</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Tile – Agentic AI for Mental Health Awareness &amp; Suicide Prevention </a:t>
            </a:r>
            <a:endParaRPr lang="en-IN" sz="2400" b="1" dirty="0">
              <a:highlight>
                <a:srgbClr val="FFFF00"/>
              </a:highligh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2141D74-A477-865F-0830-2ABF0DBA8218}"/>
              </a:ext>
            </a:extLst>
          </p:cNvPr>
          <p:cNvPicPr>
            <a:picLocks noChangeAspect="1"/>
          </p:cNvPicPr>
          <p:nvPr/>
        </p:nvPicPr>
        <p:blipFill>
          <a:blip r:embed="rId4"/>
          <a:stretch>
            <a:fillRect/>
          </a:stretch>
        </p:blipFill>
        <p:spPr>
          <a:xfrm>
            <a:off x="3715473" y="3900669"/>
            <a:ext cx="1747777" cy="19561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642009" y="830867"/>
            <a:ext cx="10607040" cy="6370975"/>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Mental health disorders such as depression, anxiety, stress, and suicidal ideation are increasing rapidly across the world, especially among students and young adults. Due to social stigma, lack of awareness, limited access to mental health professionals, and delayed intervention, many individuals struggle silently without receiving timely emotional support or guidance. Existing mental health systems are often reactive rather than preventive, making it difficult to identify early warning signs before a crisis occurs.</a:t>
            </a:r>
          </a:p>
          <a:p>
            <a:pPr>
              <a:lnSpc>
                <a:spcPct val="150000"/>
              </a:lnSpc>
            </a:pPr>
            <a:r>
              <a:rPr lang="en-US" sz="1800" dirty="0">
                <a:latin typeface="Times New Roman" panose="02020603050405020304" pitchFamily="18" charset="0"/>
                <a:cs typeface="Times New Roman" panose="02020603050405020304" pitchFamily="18" charset="0"/>
              </a:rPr>
              <a:t>There is a need for an intelligent, empathetic, and proactive solution that can promote mental health awareness, provide emotional support, detect distress signals at an early stage, and connect individuals with appropriate human assistance when necessary.</a:t>
            </a:r>
          </a:p>
          <a:p>
            <a:pPr>
              <a:lnSpc>
                <a:spcPct val="150000"/>
              </a:lnSpc>
            </a:pPr>
            <a:r>
              <a:rPr lang="en-US" sz="1800" dirty="0">
                <a:latin typeface="Times New Roman" panose="02020603050405020304" pitchFamily="18" charset="0"/>
                <a:cs typeface="Times New Roman" panose="02020603050405020304" pitchFamily="18" charset="0"/>
              </a:rPr>
              <a:t>The challenge is to design and develop an </a:t>
            </a:r>
            <a:r>
              <a:rPr lang="en-US" sz="1800" b="1" dirty="0">
                <a:latin typeface="Times New Roman" panose="02020603050405020304" pitchFamily="18" charset="0"/>
                <a:cs typeface="Times New Roman" panose="02020603050405020304" pitchFamily="18" charset="0"/>
              </a:rPr>
              <a:t>Agentic AI-powered Mental Health Awareness &amp; Suicide Prevention System</a:t>
            </a:r>
            <a:r>
              <a:rPr lang="en-US" sz="1800" dirty="0">
                <a:latin typeface="Times New Roman" panose="02020603050405020304" pitchFamily="18" charset="0"/>
                <a:cs typeface="Times New Roman" panose="02020603050405020304" pitchFamily="18" charset="0"/>
              </a:rPr>
              <a:t> using </a:t>
            </a:r>
            <a:r>
              <a:rPr lang="en-US" sz="1800" b="1" dirty="0" err="1">
                <a:latin typeface="Times New Roman" panose="02020603050405020304" pitchFamily="18" charset="0"/>
                <a:cs typeface="Times New Roman" panose="02020603050405020304" pitchFamily="18" charset="0"/>
              </a:rPr>
              <a:t>LangFlow</a:t>
            </a:r>
            <a:r>
              <a:rPr lang="en-US" sz="1800" b="1" dirty="0">
                <a:latin typeface="Times New Roman" panose="02020603050405020304" pitchFamily="18" charset="0"/>
                <a:cs typeface="Times New Roman" panose="02020603050405020304" pitchFamily="18" charset="0"/>
              </a:rPr>
              <a:t>, IBM watsonx.ai, and IBM Granite Models</a:t>
            </a:r>
            <a:r>
              <a:rPr lang="en-US" sz="1800" dirty="0">
                <a:latin typeface="Times New Roman" panose="02020603050405020304" pitchFamily="18" charset="0"/>
                <a:cs typeface="Times New Roman" panose="02020603050405020304" pitchFamily="18" charset="0"/>
              </a:rPr>
              <a:t>. The system should leverage </a:t>
            </a:r>
            <a:r>
              <a:rPr lang="en-US" sz="1800" b="1" dirty="0">
                <a:latin typeface="Times New Roman" panose="02020603050405020304" pitchFamily="18" charset="0"/>
                <a:cs typeface="Times New Roman" panose="02020603050405020304" pitchFamily="18" charset="0"/>
              </a:rPr>
              <a:t>Retrieval-Augmented Generation (RAG)</a:t>
            </a:r>
            <a:r>
              <a:rPr lang="en-US" sz="1800" dirty="0">
                <a:latin typeface="Times New Roman" panose="02020603050405020304" pitchFamily="18" charset="0"/>
                <a:cs typeface="Times New Roman" panose="02020603050405020304" pitchFamily="18" charset="0"/>
              </a:rPr>
              <a:t> and multi-agent workflows to analyze conversations, journaling inputs, or behavioral patterns in order to identify signs of emotional distress, stress, depression, or suicidal tendencies.</a:t>
            </a:r>
          </a:p>
          <a:p>
            <a:pPr>
              <a:lnSpc>
                <a:spcPct val="150000"/>
              </a:lnSpc>
            </a:pPr>
            <a:r>
              <a:rPr lang="en-US" sz="1800" dirty="0">
                <a:latin typeface="Times New Roman" panose="02020603050405020304" pitchFamily="18" charset="0"/>
                <a:cs typeface="Times New Roman" panose="02020603050405020304" pitchFamily="18" charset="0"/>
              </a:rPr>
              <a:t>The proposed solution must:</a:t>
            </a:r>
          </a:p>
          <a:p>
            <a:pPr fontAlgn="base"/>
            <a:endParaRPr lang="en-US" sz="16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642009" y="369202"/>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Statement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E011-4533-92C6-8F5A-D45CEE266EE4}"/>
              </a:ext>
            </a:extLst>
          </p:cNvPr>
          <p:cNvSpPr>
            <a:spLocks noGrp="1"/>
          </p:cNvSpPr>
          <p:nvPr>
            <p:ph type="title"/>
          </p:nvPr>
        </p:nvSpPr>
        <p:spPr>
          <a:xfrm>
            <a:off x="831850" y="1307940"/>
            <a:ext cx="10515600" cy="3254536"/>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Promote mental health awareness and self-care practices </a:t>
            </a:r>
            <a:br>
              <a:rPr lang="en-US" sz="1800" dirty="0"/>
            </a:br>
            <a:r>
              <a:rPr lang="en-US" sz="1800" dirty="0">
                <a:latin typeface="Times New Roman" panose="02020603050405020304" pitchFamily="18" charset="0"/>
                <a:cs typeface="Times New Roman" panose="02020603050405020304" pitchFamily="18" charset="0"/>
              </a:rPr>
              <a:t>Provide empathetic and safe conversational support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Detect early warning signs using AI-driven analysis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Predict potential mental health risks proactively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Recommend coping strategies and preventive actions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Escalate high-risk situations to counselors, helplines, or trusted contacts with user consent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Ensure ethical AI practices, privacy, transparency, and human-in-the-loop safety mechanisms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goal is to create a scalable, trustworthy, and socially impactful AI assistant that supports mental well-being and contributes toward suicide prevention through timely intervention and accessible mental health support</a:t>
            </a:r>
            <a:r>
              <a:rPr lang="en-US" sz="1800" dirty="0"/>
              <a:t>.</a:t>
            </a:r>
            <a:br>
              <a:rPr lang="en-US" sz="1800" dirty="0"/>
            </a:br>
            <a:endParaRPr lang="en-US" sz="1800" dirty="0"/>
          </a:p>
        </p:txBody>
      </p:sp>
    </p:spTree>
    <p:extLst>
      <p:ext uri="{BB962C8B-B14F-4D97-AF65-F5344CB8AC3E}">
        <p14:creationId xmlns:p14="http://schemas.microsoft.com/office/powerpoint/2010/main" val="430053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57680" y="1313237"/>
            <a:ext cx="10607040" cy="5740033"/>
          </a:xfrm>
          <a:prstGeom prst="rect">
            <a:avLst/>
          </a:prstGeom>
          <a:noFill/>
        </p:spPr>
        <p:txBody>
          <a:bodyPr wrap="square" rtlCol="0">
            <a:spAutoFit/>
          </a:bodyPr>
          <a:lstStyle/>
          <a:p>
            <a:pPr>
              <a:lnSpc>
                <a:spcPct val="150000"/>
              </a:lnSpc>
            </a:pPr>
            <a:r>
              <a:rPr lang="en-IN" sz="1800" b="1" dirty="0" err="1">
                <a:latin typeface="Times New Roman" panose="02020603050405020304" pitchFamily="18" charset="0"/>
                <a:cs typeface="Times New Roman" panose="02020603050405020304" pitchFamily="18" charset="0"/>
              </a:rPr>
              <a:t>LangFlow</a:t>
            </a:r>
            <a:r>
              <a:rPr lang="en-IN" sz="1800" b="1" dirty="0">
                <a:latin typeface="Times New Roman" panose="02020603050405020304" pitchFamily="18" charset="0"/>
                <a:cs typeface="Times New Roman" panose="02020603050405020304" pitchFamily="18" charset="0"/>
              </a:rPr>
              <a:t> + IBM watsonx.ai + Granite Models</a:t>
            </a:r>
            <a:endParaRPr lang="en-IN" sz="1800" dirty="0">
              <a:latin typeface="Times New Roman" panose="02020603050405020304" pitchFamily="18" charset="0"/>
              <a:cs typeface="Times New Roman" panose="02020603050405020304" pitchFamily="18" charset="0"/>
            </a:endParaRPr>
          </a:p>
          <a:p>
            <a:pPr>
              <a:lnSpc>
                <a:spcPct val="150000"/>
              </a:lnSpc>
            </a:pPr>
            <a:r>
              <a:rPr lang="en-IN" sz="1800" b="1" dirty="0">
                <a:latin typeface="Times New Roman" panose="02020603050405020304" pitchFamily="18" charset="0"/>
                <a:cs typeface="Times New Roman" panose="02020603050405020304" pitchFamily="18" charset="0"/>
              </a:rPr>
              <a:t>Technologies Used:</a:t>
            </a:r>
          </a:p>
          <a:p>
            <a:pPr>
              <a:lnSpc>
                <a:spcPct val="150000"/>
              </a:lnSpc>
            </a:pPr>
            <a:r>
              <a:rPr lang="en-IN" sz="1800" b="1" dirty="0" err="1">
                <a:latin typeface="Times New Roman" panose="02020603050405020304" pitchFamily="18" charset="0"/>
                <a:cs typeface="Times New Roman" panose="02020603050405020304" pitchFamily="18" charset="0"/>
              </a:rPr>
              <a:t>LangFlow</a:t>
            </a:r>
            <a:r>
              <a:rPr lang="en-IN" sz="1800" dirty="0">
                <a:latin typeface="Times New Roman" panose="02020603050405020304" pitchFamily="18" charset="0"/>
                <a:cs typeface="Times New Roman" panose="02020603050405020304" pitchFamily="18" charset="0"/>
              </a:rPr>
              <a:t> – Agentic AI workflow orchestration </a:t>
            </a:r>
          </a:p>
          <a:p>
            <a:pPr>
              <a:lnSpc>
                <a:spcPct val="150000"/>
              </a:lnSpc>
            </a:pPr>
            <a:r>
              <a:rPr lang="en-IN" sz="1800" b="1" dirty="0">
                <a:latin typeface="Times New Roman" panose="02020603050405020304" pitchFamily="18" charset="0"/>
                <a:cs typeface="Times New Roman" panose="02020603050405020304" pitchFamily="18" charset="0"/>
              </a:rPr>
              <a:t>IBM watsonx.ai</a:t>
            </a:r>
            <a:r>
              <a:rPr lang="en-IN" sz="1800" dirty="0">
                <a:latin typeface="Times New Roman" panose="02020603050405020304" pitchFamily="18" charset="0"/>
                <a:cs typeface="Times New Roman" panose="02020603050405020304" pitchFamily="18" charset="0"/>
              </a:rPr>
              <a:t> – AI model hosting and deployment </a:t>
            </a:r>
          </a:p>
          <a:p>
            <a:pPr>
              <a:lnSpc>
                <a:spcPct val="150000"/>
              </a:lnSpc>
            </a:pPr>
            <a:r>
              <a:rPr lang="en-IN" sz="1800" b="1" dirty="0">
                <a:latin typeface="Times New Roman" panose="02020603050405020304" pitchFamily="18" charset="0"/>
                <a:cs typeface="Times New Roman" panose="02020603050405020304" pitchFamily="18" charset="0"/>
              </a:rPr>
              <a:t>IBM Granite Models</a:t>
            </a:r>
            <a:r>
              <a:rPr lang="en-IN" sz="1800" dirty="0">
                <a:latin typeface="Times New Roman" panose="02020603050405020304" pitchFamily="18" charset="0"/>
                <a:cs typeface="Times New Roman" panose="02020603050405020304" pitchFamily="18" charset="0"/>
              </a:rPr>
              <a:t> – Conversational AI, sentiment analysis, and empathetic response generation </a:t>
            </a:r>
          </a:p>
          <a:p>
            <a:pPr>
              <a:lnSpc>
                <a:spcPct val="150000"/>
              </a:lnSpc>
            </a:pPr>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 Backend development </a:t>
            </a:r>
          </a:p>
          <a:p>
            <a:pPr>
              <a:lnSpc>
                <a:spcPct val="150000"/>
              </a:lnSpc>
            </a:pPr>
            <a:r>
              <a:rPr lang="en-IN" sz="1800" b="1" dirty="0" err="1">
                <a:latin typeface="Times New Roman" panose="02020603050405020304" pitchFamily="18" charset="0"/>
                <a:cs typeface="Times New Roman" panose="02020603050405020304" pitchFamily="18" charset="0"/>
              </a:rPr>
              <a:t>FastAPI</a:t>
            </a:r>
            <a:r>
              <a:rPr lang="en-IN" sz="1800" dirty="0">
                <a:latin typeface="Times New Roman" panose="02020603050405020304" pitchFamily="18" charset="0"/>
                <a:cs typeface="Times New Roman" panose="02020603050405020304" pitchFamily="18" charset="0"/>
              </a:rPr>
              <a:t> – API integration and communication </a:t>
            </a:r>
          </a:p>
          <a:p>
            <a:pPr>
              <a:lnSpc>
                <a:spcPct val="150000"/>
              </a:lnSpc>
            </a:pPr>
            <a:r>
              <a:rPr lang="en-IN" sz="1800" b="1" dirty="0">
                <a:latin typeface="Times New Roman" panose="02020603050405020304" pitchFamily="18" charset="0"/>
                <a:cs typeface="Times New Roman" panose="02020603050405020304" pitchFamily="18" charset="0"/>
              </a:rPr>
              <a:t>MongoDB</a:t>
            </a:r>
            <a:r>
              <a:rPr lang="en-IN" sz="1800" dirty="0">
                <a:latin typeface="Times New Roman" panose="02020603050405020304" pitchFamily="18" charset="0"/>
                <a:cs typeface="Times New Roman" panose="02020603050405020304" pitchFamily="18" charset="0"/>
              </a:rPr>
              <a:t> – Data and chat history storage </a:t>
            </a:r>
          </a:p>
          <a:p>
            <a:pPr>
              <a:lnSpc>
                <a:spcPct val="150000"/>
              </a:lnSpc>
            </a:pPr>
            <a:r>
              <a:rPr lang="en-IN" sz="1800" b="1" dirty="0">
                <a:latin typeface="Times New Roman" panose="02020603050405020304" pitchFamily="18" charset="0"/>
                <a:cs typeface="Times New Roman" panose="02020603050405020304" pitchFamily="18" charset="0"/>
              </a:rPr>
              <a:t>FAISS / </a:t>
            </a:r>
            <a:r>
              <a:rPr lang="en-IN" sz="1800" b="1" dirty="0" err="1">
                <a:latin typeface="Times New Roman" panose="02020603050405020304" pitchFamily="18" charset="0"/>
                <a:cs typeface="Times New Roman" panose="02020603050405020304" pitchFamily="18" charset="0"/>
              </a:rPr>
              <a:t>ChromaDB</a:t>
            </a:r>
            <a:r>
              <a:rPr lang="en-IN" sz="1800" dirty="0">
                <a:latin typeface="Times New Roman" panose="02020603050405020304" pitchFamily="18" charset="0"/>
                <a:cs typeface="Times New Roman" panose="02020603050405020304" pitchFamily="18" charset="0"/>
              </a:rPr>
              <a:t> – Vector database for RAG implementation </a:t>
            </a:r>
          </a:p>
          <a:p>
            <a:pPr>
              <a:lnSpc>
                <a:spcPct val="150000"/>
              </a:lnSpc>
            </a:pPr>
            <a:r>
              <a:rPr lang="en-IN" sz="1800" b="1" dirty="0">
                <a:latin typeface="Times New Roman" panose="02020603050405020304" pitchFamily="18" charset="0"/>
                <a:cs typeface="Times New Roman" panose="02020603050405020304" pitchFamily="18" charset="0"/>
              </a:rPr>
              <a:t>React.js</a:t>
            </a:r>
            <a:r>
              <a:rPr lang="en-IN" sz="1800" dirty="0">
                <a:latin typeface="Times New Roman" panose="02020603050405020304" pitchFamily="18" charset="0"/>
                <a:cs typeface="Times New Roman" panose="02020603050405020304" pitchFamily="18" charset="0"/>
              </a:rPr>
              <a:t> – Frontend user interface </a:t>
            </a:r>
          </a:p>
          <a:p>
            <a:pPr>
              <a:lnSpc>
                <a:spcPct val="150000"/>
              </a:lnSpc>
            </a:pPr>
            <a:r>
              <a:rPr lang="en-IN" sz="1800" b="1" dirty="0">
                <a:latin typeface="Times New Roman" panose="02020603050405020304" pitchFamily="18" charset="0"/>
                <a:cs typeface="Times New Roman" panose="02020603050405020304" pitchFamily="18" charset="0"/>
              </a:rPr>
              <a:t>Docker &amp; IBM Cloud</a:t>
            </a:r>
            <a:r>
              <a:rPr lang="en-IN" sz="1800" dirty="0">
                <a:latin typeface="Times New Roman" panose="02020603050405020304" pitchFamily="18" charset="0"/>
                <a:cs typeface="Times New Roman" panose="02020603050405020304" pitchFamily="18" charset="0"/>
              </a:rPr>
              <a:t> – Deployment and scalability</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4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5443734"/>
          </a:xfrm>
          <a:prstGeom prst="rect">
            <a:avLst/>
          </a:prstGeom>
          <a:noFill/>
        </p:spPr>
        <p:txBody>
          <a:bodyPr wrap="square" rtlCol="0">
            <a:spAutoFit/>
          </a:bodyPr>
          <a:lstStyle/>
          <a:p>
            <a:pPr fontAlgn="base">
              <a:lnSpc>
                <a:spcPct val="150000"/>
              </a:lnSpc>
            </a:pPr>
            <a:r>
              <a:rPr lang="en-US" sz="1800" dirty="0">
                <a:latin typeface="Times New Roman" panose="02020603050405020304" pitchFamily="18" charset="0"/>
                <a:cs typeface="Times New Roman" panose="02020603050405020304" pitchFamily="18" charset="0"/>
              </a:rPr>
              <a:t>The proposed solution for an Agentic AI system for mental health awareness and suicide prevention is a multi-agent intelligent framework designed to continuously detect emotional distress, provide empathetic support, and ensure timely intervention in crisis situations. The system operates through a coordinated set of specialized AI agents. An Emotion Detection Agent analyzes user inputs such as text or voice to identify emotional states like stress, anxiety, or hopelessness using natural language processing and behavioral signals. A Risk Assessment Agent evaluates the severity of distress and determines the likelihood of self-harm or suicidal ideation based on contextual understanding rather than simple keyword detection. If distress is identified, a Conversational Support Agent engages the user in a compassionate, non-judgmental dialogue, offering emotional reassurance and evidence-based coping strategies such as grounding techniques or cognitive behavioral therapy-inspired reframing. In parallel, an Awareness and Education Agent provides personalized mental health resources, wellness tips, and preventive guidance to improve long-term emotional resilience. When high-risk conditions are detected, a Crisis Escalation Agent immediately activates, encouraging the user to contact mental health helplines, reach trusted contacts, or connect with emergency services, while also alerting trained human</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03146"/>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Proposed Solution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29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850F-EB19-4C39-B7E7-190115698496}"/>
              </a:ext>
            </a:extLst>
          </p:cNvPr>
          <p:cNvSpPr>
            <a:spLocks noGrp="1"/>
          </p:cNvSpPr>
          <p:nvPr>
            <p:ph type="title"/>
          </p:nvPr>
        </p:nvSpPr>
        <p:spPr>
          <a:xfrm>
            <a:off x="646655" y="768350"/>
            <a:ext cx="10515600" cy="2852737"/>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professionals through a Human-in-the-Loop system for real-time intervention. The entire system is designed with strict ethical safeguards, ensuring privacy protection, avoiding diagnostic labeling, minimizing dependency on AI, and maintaining human oversight for critical decisions. Deployed through mobile applications, messaging platforms, and institutional systems, this Agentic AI framework aims to provide early detection of mental health issues, reduce barriers to seeking help, and create a scalable digital safety net that supports individuals while complementing professional mental health services.</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2635624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component Used -</a:t>
            </a:r>
            <a:endParaRPr sz="2400" b="1" dirty="0">
              <a:latin typeface="Times New Roman" panose="02020603050405020304" pitchFamily="18" charset="0"/>
              <a:cs typeface="Times New Roman" panose="02020603050405020304" pitchFamily="18" charset="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13946" y="1025234"/>
            <a:ext cx="10636874" cy="7063472"/>
          </a:xfrm>
          <a:prstGeom prst="rect">
            <a:avLst/>
          </a:prstGeom>
          <a:noFill/>
        </p:spPr>
        <p:txBody>
          <a:bodyPr wrap="square" rtlCol="0">
            <a:spAutoFit/>
          </a:bodyPr>
          <a:lstStyle/>
          <a:p>
            <a:pPr>
              <a:lnSpc>
                <a:spcPct val="150000"/>
              </a:lnSpc>
            </a:pPr>
            <a:r>
              <a:rPr lang="en-US" sz="1800" b="1" dirty="0">
                <a:latin typeface="Times New Roman" panose="02020603050405020304" pitchFamily="18" charset="0"/>
                <a:cs typeface="Times New Roman" panose="02020603050405020304" pitchFamily="18" charset="0"/>
              </a:rPr>
              <a:t>Chat Input</a:t>
            </a:r>
            <a:r>
              <a:rPr lang="en-US" sz="1800" dirty="0">
                <a:latin typeface="Times New Roman" panose="02020603050405020304" pitchFamily="18" charset="0"/>
                <a:cs typeface="Times New Roman" panose="02020603050405020304" pitchFamily="18" charset="0"/>
              </a:rPr>
              <a:t> – Interface where users enter their emotional state, concerns, or queries (text/voice). It captures conversation signals like stress, anxiety, or distress for further processing. </a:t>
            </a:r>
          </a:p>
          <a:p>
            <a:pPr>
              <a:lnSpc>
                <a:spcPct val="150000"/>
              </a:lnSpc>
            </a:pPr>
            <a:r>
              <a:rPr lang="en-US" sz="1800" b="1" dirty="0">
                <a:latin typeface="Times New Roman" panose="02020603050405020304" pitchFamily="18" charset="0"/>
                <a:cs typeface="Times New Roman" panose="02020603050405020304" pitchFamily="18" charset="0"/>
              </a:rPr>
              <a:t>IBM </a:t>
            </a:r>
            <a:r>
              <a:rPr lang="en-US" sz="1800" b="1" dirty="0" err="1">
                <a:latin typeface="Times New Roman" panose="02020603050405020304" pitchFamily="18" charset="0"/>
                <a:cs typeface="Times New Roman" panose="02020603050405020304" pitchFamily="18" charset="0"/>
              </a:rPr>
              <a:t>watsonx</a:t>
            </a:r>
            <a:r>
              <a:rPr lang="en-US" sz="1800" b="1" dirty="0">
                <a:latin typeface="Times New Roman" panose="02020603050405020304" pitchFamily="18" charset="0"/>
                <a:cs typeface="Times New Roman" panose="02020603050405020304" pitchFamily="18" charset="0"/>
              </a:rPr>
              <a:t> AI Agent</a:t>
            </a:r>
            <a:r>
              <a:rPr lang="en-US" sz="1800" dirty="0">
                <a:latin typeface="Times New Roman" panose="02020603050405020304" pitchFamily="18" charset="0"/>
                <a:cs typeface="Times New Roman" panose="02020603050405020304" pitchFamily="18" charset="0"/>
              </a:rPr>
              <a:t> – Processes user input using Granite models to generate empathetic, safe, and context-aware mental health responses, emotional support, and guidance. </a:t>
            </a:r>
          </a:p>
          <a:p>
            <a:pPr>
              <a:lnSpc>
                <a:spcPct val="150000"/>
              </a:lnSpc>
            </a:pPr>
            <a:r>
              <a:rPr lang="en-US" sz="1800" b="1" dirty="0">
                <a:latin typeface="Times New Roman" panose="02020603050405020304" pitchFamily="18" charset="0"/>
                <a:cs typeface="Times New Roman" panose="02020603050405020304" pitchFamily="18" charset="0"/>
              </a:rPr>
              <a:t>Name of IBM Granite model</a:t>
            </a:r>
            <a:r>
              <a:rPr lang="en-US" sz="1800" dirty="0">
                <a:latin typeface="Times New Roman" panose="02020603050405020304" pitchFamily="18" charset="0"/>
                <a:cs typeface="Times New Roman" panose="02020603050405020304" pitchFamily="18" charset="0"/>
              </a:rPr>
              <a:t> – </a:t>
            </a:r>
            <a:r>
              <a:rPr lang="en-US" sz="1800" b="1" dirty="0">
                <a:latin typeface="Times New Roman" panose="02020603050405020304" pitchFamily="18" charset="0"/>
                <a:cs typeface="Times New Roman" panose="02020603050405020304" pitchFamily="18" charset="0"/>
              </a:rPr>
              <a:t>Granite-4.0-8B-Instruct</a:t>
            </a:r>
            <a:r>
              <a:rPr lang="en-US" sz="1800" dirty="0">
                <a:latin typeface="Times New Roman" panose="02020603050405020304" pitchFamily="18" charset="0"/>
                <a:cs typeface="Times New Roman" panose="02020603050405020304" pitchFamily="18" charset="0"/>
              </a:rPr>
              <a:t> → Efficient for real-time empathetic conversation, emotional understanding, and safe response generation in mental health scenarios. </a:t>
            </a:r>
          </a:p>
          <a:p>
            <a:pPr>
              <a:lnSpc>
                <a:spcPct val="150000"/>
              </a:lnSpc>
            </a:pPr>
            <a:r>
              <a:rPr lang="en-US" sz="1800" b="1" dirty="0">
                <a:latin typeface="Times New Roman" panose="02020603050405020304" pitchFamily="18" charset="0"/>
                <a:cs typeface="Times New Roman" panose="02020603050405020304" pitchFamily="18" charset="0"/>
              </a:rPr>
              <a:t>Chat Output</a:t>
            </a:r>
            <a:r>
              <a:rPr lang="en-US" sz="1800" dirty="0">
                <a:latin typeface="Times New Roman" panose="02020603050405020304" pitchFamily="18" charset="0"/>
                <a:cs typeface="Times New Roman" panose="02020603050405020304" pitchFamily="18" charset="0"/>
              </a:rPr>
              <a:t> – Displays AI-generated responses such as emotional support messages, coping strategies, awareness suggestions, and crisis guidance (e.g., helpline recommendations when needed).</a:t>
            </a:r>
          </a:p>
          <a:p>
            <a:pPr>
              <a:lnSpc>
                <a:spcPct val="150000"/>
              </a:lnSpc>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File Component</a:t>
            </a:r>
            <a:r>
              <a:rPr lang="en-US" sz="1800" dirty="0">
                <a:latin typeface="Times New Roman" panose="02020603050405020304" pitchFamily="18" charset="0"/>
                <a:cs typeface="Times New Roman" panose="02020603050405020304" pitchFamily="18" charset="0"/>
              </a:rPr>
              <a:t> – Stores and retrieves user conversation history, emotional trends, risk flags, and interaction logs to help track long-term mental well-being patterns (with privacy safeguards).</a:t>
            </a:r>
          </a:p>
          <a:p>
            <a:pPr>
              <a:lnSpc>
                <a:spcPct val="150000"/>
              </a:lnSpc>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Emotion &amp; Suicide Risk Analysis Component (Custom Python / ML Node)</a:t>
            </a:r>
            <a:r>
              <a:rPr lang="en-US" sz="1800" dirty="0">
                <a:latin typeface="Times New Roman" panose="02020603050405020304" pitchFamily="18" charset="0"/>
                <a:cs typeface="Times New Roman" panose="02020603050405020304" pitchFamily="18" charset="0"/>
              </a:rPr>
              <a:t> – Analyzes user text to detect emotional states (stress, sadness, hopelessness) and assigns a suicide risk level (low/moderate/high). This component helps trigger safe escalation when necessary. </a:t>
            </a:r>
          </a:p>
          <a:p>
            <a:endParaRPr lang="en-US" sz="18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BAC8-52E5-20E6-DBBE-B853A069D7DB}"/>
              </a:ext>
            </a:extLst>
          </p:cNvPr>
          <p:cNvSpPr>
            <a:spLocks noGrp="1"/>
          </p:cNvSpPr>
          <p:nvPr>
            <p:ph type="title"/>
          </p:nvPr>
        </p:nvSpPr>
        <p:spPr>
          <a:xfrm>
            <a:off x="496185" y="-127321"/>
            <a:ext cx="10515600" cy="1958171"/>
          </a:xfrm>
        </p:spPr>
        <p:txBody>
          <a:bodyPr>
            <a:normAutofit/>
          </a:bodyPr>
          <a:lstStyle/>
          <a:p>
            <a:r>
              <a:rPr lang="en-US" sz="1800" b="1" dirty="0">
                <a:latin typeface="Times New Roman" panose="02020603050405020304" pitchFamily="18" charset="0"/>
                <a:cs typeface="Times New Roman" panose="02020603050405020304" pitchFamily="18" charset="0"/>
              </a:rPr>
              <a:t>Guardrails &amp; Safety Component</a:t>
            </a:r>
            <a:r>
              <a:rPr lang="en-US" sz="1800" dirty="0">
                <a:latin typeface="Times New Roman" panose="02020603050405020304" pitchFamily="18" charset="0"/>
                <a:cs typeface="Times New Roman" panose="02020603050405020304" pitchFamily="18" charset="0"/>
              </a:rPr>
              <a:t> – Ensures the system provides non-judgmental, non-diagnostic, and safe responses. It blocks harmful outputs, enforces empathetic tone, and ensures escalation protocols are followed in crisis situations.</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1449529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workflow -</a:t>
            </a:r>
            <a:endParaRPr sz="2400" b="1" dirty="0">
              <a:latin typeface="Times New Roman" panose="02020603050405020304" pitchFamily="18" charset="0"/>
              <a:cs typeface="Times New Roman" panose="02020603050405020304" pitchFamily="18" charset="0"/>
              <a:sym typeface="Times New Roman"/>
            </a:endParaRPr>
          </a:p>
        </p:txBody>
      </p:sp>
      <p:pic>
        <p:nvPicPr>
          <p:cNvPr id="5" name="Picture 4">
            <a:extLst>
              <a:ext uri="{FF2B5EF4-FFF2-40B4-BE49-F238E27FC236}">
                <a16:creationId xmlns:a16="http://schemas.microsoft.com/office/drawing/2014/main" id="{0464A636-3C7F-352D-733D-197E1B36DBF6}"/>
              </a:ext>
            </a:extLst>
          </p:cNvPr>
          <p:cNvPicPr>
            <a:picLocks noChangeAspect="1"/>
          </p:cNvPicPr>
          <p:nvPr/>
        </p:nvPicPr>
        <p:blipFill>
          <a:blip r:embed="rId3"/>
          <a:stretch>
            <a:fillRect/>
          </a:stretch>
        </p:blipFill>
        <p:spPr>
          <a:xfrm>
            <a:off x="537590" y="1154386"/>
            <a:ext cx="11326761" cy="538037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Architecture blueprint</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DFB44F4-78D5-2BC5-7D70-BAE708295D9A}"/>
              </a:ext>
            </a:extLst>
          </p:cNvPr>
          <p:cNvPicPr>
            <a:picLocks noChangeAspect="1"/>
          </p:cNvPicPr>
          <p:nvPr/>
        </p:nvPicPr>
        <p:blipFill>
          <a:blip r:embed="rId3"/>
          <a:stretch>
            <a:fillRect/>
          </a:stretch>
        </p:blipFill>
        <p:spPr>
          <a:xfrm>
            <a:off x="137651" y="1445342"/>
            <a:ext cx="11916697" cy="38050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Role of Agentic AI in Mental Health Awareness &amp; Suicide Prevention </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72071"/>
            <a:ext cx="11087621" cy="5709255"/>
          </a:xfrm>
          <a:prstGeom prst="rect">
            <a:avLst/>
          </a:prstGeom>
          <a:noFill/>
        </p:spPr>
        <p:txBody>
          <a:bodyPr wrap="square" rtlCol="0">
            <a:spAutoFit/>
          </a:bodyPr>
          <a:lstStyle/>
          <a:p>
            <a:pPr>
              <a:lnSpc>
                <a:spcPct val="150000"/>
              </a:lnSpc>
            </a:pPr>
            <a:r>
              <a:rPr lang="en-US" sz="1800" b="1" dirty="0">
                <a:latin typeface="Times New Roman" panose="02020603050405020304" pitchFamily="18" charset="0"/>
                <a:cs typeface="Times New Roman" panose="02020603050405020304" pitchFamily="18" charset="0"/>
              </a:rPr>
              <a:t>Role of Agentic AI in Mental Health Awareness &amp; Suicide Prevention</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Agentic AI enables the Mental Health Support System to function as an intelligent, autonomous, and safety-driven digital companion rather than a simple conversational chatbot. Using platforms like IBM watsonx.ai and IBM Granite models, it coordinates multiple specialized agents that work together to detect emotional distress, provide empathetic support, and ensure timely crisis intervention.</a:t>
            </a:r>
          </a:p>
          <a:p>
            <a:pPr>
              <a:lnSpc>
                <a:spcPct val="150000"/>
              </a:lnSpc>
            </a:pPr>
            <a:r>
              <a:rPr lang="en-US" sz="1800" dirty="0">
                <a:latin typeface="Times New Roman" panose="02020603050405020304" pitchFamily="18" charset="0"/>
                <a:cs typeface="Times New Roman" panose="02020603050405020304" pitchFamily="18" charset="0"/>
              </a:rPr>
              <a:t>Each agent performs a specific role—such as analyzing emotional tone, assessing suicide risk levels, generating empathetic responses, providing coping strategies, and connecting users to mental health resources—while collaborating in real time. This multi-agent approach ensures accurate understanding of user emotions and appropriate response generation in sensitive situations.</a:t>
            </a:r>
          </a:p>
          <a:p>
            <a:pPr>
              <a:lnSpc>
                <a:spcPct val="150000"/>
              </a:lnSpc>
            </a:pPr>
            <a:r>
              <a:rPr lang="en-US" sz="1800" dirty="0">
                <a:latin typeface="Times New Roman" panose="02020603050405020304" pitchFamily="18" charset="0"/>
                <a:cs typeface="Times New Roman" panose="02020603050405020304" pitchFamily="18" charset="0"/>
              </a:rPr>
              <a:t>Agentic AI also brings deep context awareness, allowing the system to understand user behavior patterns, emotional history, and situational factors such as loneliness, stress, or traumatic events. Based on this context, it generates personalized mental health guidance and adapts responses dynamically as the user’s emotional state changes over time.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AAAA-F015-4A44-04E0-913D36F27428}"/>
              </a:ext>
            </a:extLst>
          </p:cNvPr>
          <p:cNvSpPr>
            <a:spLocks noGrp="1"/>
          </p:cNvSpPr>
          <p:nvPr>
            <p:ph type="title"/>
          </p:nvPr>
        </p:nvSpPr>
        <p:spPr>
          <a:xfrm>
            <a:off x="542483" y="576263"/>
            <a:ext cx="10515600" cy="2852737"/>
          </a:xfrm>
        </p:spPr>
        <p:txBody>
          <a:bodyPr>
            <a:normAutofit fontScale="90000"/>
          </a:bodyPr>
          <a:lstStyle/>
          <a:p>
            <a:pPr>
              <a:lnSpc>
                <a:spcPct val="150000"/>
              </a:lnSpc>
            </a:pPr>
            <a:r>
              <a:rPr lang="en-US" sz="2000" dirty="0">
                <a:latin typeface="Times New Roman" panose="02020603050405020304" pitchFamily="18" charset="0"/>
                <a:cs typeface="Times New Roman" panose="02020603050405020304" pitchFamily="18" charset="0"/>
              </a:rPr>
              <a:t>In addition, the agents continuously communicate with each other. For example, if the Emotion Analysis Agent detects severe distress, it immediately informs the Risk Assessment Agent and Crisis Escalation Agent to trigger urgent safety protocols, such as suggesting helplines or alerting human counselors.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Overall, Agentic AI makes the system proactive, empathetic, and safety-oriented, acting like a responsible digital mental health assistant that not only supports users emotionally but also helps prevent suicide risks through early detection, continuous monitoring, and timely intervention.</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782389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53150" y="224482"/>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453150" y="882917"/>
            <a:ext cx="11285700" cy="6478697"/>
          </a:xfrm>
          <a:prstGeom prst="rect">
            <a:avLst/>
          </a:prstGeom>
          <a:noFill/>
        </p:spPr>
        <p:txBody>
          <a:bodyPr wrap="square" rtlCol="0">
            <a:spAutoFit/>
          </a:bodyPr>
          <a:lstStyle/>
          <a:p>
            <a:pPr>
              <a:lnSpc>
                <a:spcPct val="150000"/>
              </a:lnSpc>
            </a:pPr>
            <a:r>
              <a:rPr lang="en-US" sz="1800" b="1" dirty="0" err="1">
                <a:latin typeface="Times New Roman" panose="02020603050405020304" pitchFamily="18" charset="0"/>
                <a:cs typeface="Times New Roman" panose="02020603050405020304" pitchFamily="18" charset="0"/>
              </a:rPr>
              <a:t>Langflow</a:t>
            </a:r>
            <a:r>
              <a:rPr lang="en-US" sz="1800" b="1" dirty="0">
                <a:latin typeface="Times New Roman" panose="02020603050405020304" pitchFamily="18" charset="0"/>
                <a:cs typeface="Times New Roman" panose="02020603050405020304" pitchFamily="18" charset="0"/>
              </a:rPr>
              <a:t> Platform</a:t>
            </a:r>
            <a:r>
              <a:rPr lang="en-US" sz="1800" dirty="0">
                <a:latin typeface="Times New Roman" panose="02020603050405020304" pitchFamily="18" charset="0"/>
                <a:cs typeface="Times New Roman" panose="02020603050405020304" pitchFamily="18" charset="0"/>
              </a:rPr>
              <a:t> – For designing and orchestrating multi-agent workflows visually. It helps in building a structured flow between Emotion Detection Agent, Risk Assessment Agent, Conversational Support Agent, and Crisis Escalation Agent.</a:t>
            </a:r>
          </a:p>
          <a:p>
            <a:pPr>
              <a:lnSpc>
                <a:spcPct val="150000"/>
              </a:lnSpc>
            </a:pPr>
            <a:r>
              <a:rPr lang="en-US" sz="1800" b="1" dirty="0">
                <a:latin typeface="Times New Roman" panose="02020603050405020304" pitchFamily="18" charset="0"/>
                <a:cs typeface="Times New Roman" panose="02020603050405020304" pitchFamily="18" charset="0"/>
              </a:rPr>
              <a:t>IBM Granite Model</a:t>
            </a:r>
            <a:r>
              <a:rPr lang="en-US" sz="1800" dirty="0">
                <a:latin typeface="Times New Roman" panose="02020603050405020304" pitchFamily="18" charset="0"/>
                <a:cs typeface="Times New Roman" panose="02020603050405020304" pitchFamily="18" charset="0"/>
              </a:rPr>
              <a:t> – e.g., </a:t>
            </a:r>
            <a:r>
              <a:rPr lang="en-US" sz="1800" i="1" dirty="0">
                <a:latin typeface="Times New Roman" panose="02020603050405020304" pitchFamily="18" charset="0"/>
                <a:cs typeface="Times New Roman" panose="02020603050405020304" pitchFamily="18" charset="0"/>
              </a:rPr>
              <a:t>ibm-granite-4.0-8b-instruct</a:t>
            </a:r>
            <a:r>
              <a:rPr lang="en-US" sz="1800" dirty="0">
                <a:latin typeface="Times New Roman" panose="02020603050405020304" pitchFamily="18" charset="0"/>
                <a:cs typeface="Times New Roman" panose="02020603050405020304" pitchFamily="18" charset="0"/>
              </a:rPr>
              <a:t> – Used for natural language understanding, empathetic reasoning, and generating personalized, safe, and supportive mental health responses.</a:t>
            </a:r>
          </a:p>
          <a:p>
            <a:pPr>
              <a:lnSpc>
                <a:spcPct val="150000"/>
              </a:lnSpc>
            </a:pPr>
            <a:r>
              <a:rPr lang="en-US" sz="1800" b="1" dirty="0">
                <a:latin typeface="Times New Roman" panose="02020603050405020304" pitchFamily="18" charset="0"/>
                <a:cs typeface="Times New Roman" panose="02020603050405020304" pitchFamily="18" charset="0"/>
              </a:rPr>
              <a:t>IBM Cloud</a:t>
            </a:r>
            <a:r>
              <a:rPr lang="en-US" sz="1800" dirty="0">
                <a:latin typeface="Times New Roman" panose="02020603050405020304" pitchFamily="18" charset="0"/>
                <a:cs typeface="Times New Roman" panose="02020603050405020304" pitchFamily="18" charset="0"/>
              </a:rPr>
              <a:t> – Provides the infrastructure to build, deploy, and scale the Mental Health Agent system efficiently. It ensures a secure, reliable, and scalable environment for hosting AI services, APIs, and real-time alert systems.</a:t>
            </a:r>
          </a:p>
          <a:p>
            <a:pPr>
              <a:lnSpc>
                <a:spcPct val="150000"/>
              </a:lnSpc>
            </a:pPr>
            <a:r>
              <a:rPr lang="en-US" sz="1800" b="1" dirty="0">
                <a:latin typeface="Times New Roman" panose="02020603050405020304" pitchFamily="18" charset="0"/>
                <a:cs typeface="Times New Roman" panose="02020603050405020304" pitchFamily="18" charset="0"/>
              </a:rPr>
              <a:t>RAG (Retrieval-Augmented Generation)</a:t>
            </a:r>
            <a:r>
              <a:rPr lang="en-US" sz="1800" dirty="0">
                <a:latin typeface="Times New Roman" panose="02020603050405020304" pitchFamily="18" charset="0"/>
                <a:cs typeface="Times New Roman" panose="02020603050405020304" pitchFamily="18" charset="0"/>
              </a:rPr>
              <a:t> – Used to fetch verified mental health knowledge first (such as WHO guidelines, therapy techniques, and crisis helplines) and then generate accurate and safe responses, making the system more trustworthy and context-aware.</a:t>
            </a:r>
          </a:p>
          <a:p>
            <a:pPr>
              <a:lnSpc>
                <a:spcPct val="150000"/>
              </a:lnSpc>
            </a:pPr>
            <a:r>
              <a:rPr lang="en-US" sz="1800" b="1" dirty="0">
                <a:latin typeface="Times New Roman" panose="02020603050405020304" pitchFamily="18" charset="0"/>
                <a:cs typeface="Times New Roman" panose="02020603050405020304" pitchFamily="18" charset="0"/>
              </a:rPr>
              <a:t>IBM watsonx.ai</a:t>
            </a:r>
            <a:r>
              <a:rPr lang="en-US" sz="1800" dirty="0">
                <a:latin typeface="Times New Roman" panose="02020603050405020304" pitchFamily="18" charset="0"/>
                <a:cs typeface="Times New Roman" panose="02020603050405020304" pitchFamily="18" charset="0"/>
              </a:rPr>
              <a:t> – Used for model deployment, prompt engineering, embeddings, and AI governance. It ensures safe AI behavior, monitoring, and compliance with ethical AI standards in mental health applications.</a:t>
            </a:r>
          </a:p>
          <a:p>
            <a:pPr>
              <a:lnSpc>
                <a:spcPct val="150000"/>
              </a:lnSpc>
            </a:pPr>
            <a:r>
              <a:rPr lang="en-US" sz="1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DFE74-DDB3-7E11-BED3-09894E0B9FEF}"/>
              </a:ext>
            </a:extLst>
          </p:cNvPr>
          <p:cNvSpPr>
            <a:spLocks noGrp="1"/>
          </p:cNvSpPr>
          <p:nvPr>
            <p:ph type="title"/>
          </p:nvPr>
        </p:nvSpPr>
        <p:spPr>
          <a:xfrm>
            <a:off x="838200" y="462986"/>
            <a:ext cx="10515600" cy="2513757"/>
          </a:xfrm>
        </p:spPr>
        <p:txBody>
          <a:bodyPr>
            <a:normAutofit/>
          </a:bodyPr>
          <a:lstStyle/>
          <a:p>
            <a:pPr>
              <a:lnSpc>
                <a:spcPct val="150000"/>
              </a:lnSpc>
            </a:pPr>
            <a:r>
              <a:rPr lang="en-US" sz="1800" b="1" dirty="0">
                <a:latin typeface="Times New Roman" panose="02020603050405020304" pitchFamily="18" charset="0"/>
                <a:cs typeface="Times New Roman" panose="02020603050405020304" pitchFamily="18" charset="0"/>
              </a:rPr>
              <a:t>Vector Database (FAISS / </a:t>
            </a:r>
            <a:r>
              <a:rPr lang="en-US" sz="1800" b="1" dirty="0" err="1">
                <a:latin typeface="Times New Roman" panose="02020603050405020304" pitchFamily="18" charset="0"/>
                <a:cs typeface="Times New Roman" panose="02020603050405020304" pitchFamily="18" charset="0"/>
              </a:rPr>
              <a:t>ChromaDB</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 Used for storing and retrieving mental health knowledge, past user emotional history, and coping strategies. It supports RAG-based retrieval for generating personalized and context-aware responses.</a:t>
            </a:r>
            <a:br>
              <a:rPr lang="en-US" sz="1800" dirty="0">
                <a:latin typeface="Times New Roman" panose="02020603050405020304" pitchFamily="18" charset="0"/>
                <a:cs typeface="Times New Roman" panose="02020603050405020304" pitchFamily="18" charset="0"/>
              </a:rPr>
            </a:br>
            <a:br>
              <a:rPr lang="en-US" sz="1800" dirty="0"/>
            </a:br>
            <a:endParaRPr lang="en-IN" sz="1800" dirty="0"/>
          </a:p>
        </p:txBody>
      </p:sp>
    </p:spTree>
    <p:extLst>
      <p:ext uri="{BB962C8B-B14F-4D97-AF65-F5344CB8AC3E}">
        <p14:creationId xmlns:p14="http://schemas.microsoft.com/office/powerpoint/2010/main" val="2268746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latin typeface="Times New Roman" panose="02020603050405020304" pitchFamily="18" charset="0"/>
                <a:cs typeface="Times New Roman" panose="02020603050405020304" pitchFamily="18" charset="0"/>
                <a:sym typeface="Times New Roman"/>
              </a:rPr>
              <a:t>Token Usage </a:t>
            </a:r>
            <a:endParaRPr sz="2400" b="1" dirty="0">
              <a:latin typeface="Times New Roman" panose="02020603050405020304" pitchFamily="18" charset="0"/>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73542 token are used</a:t>
            </a:r>
          </a:p>
        </p:txBody>
      </p:sp>
      <p:pic>
        <p:nvPicPr>
          <p:cNvPr id="6" name="Picture 5">
            <a:extLst>
              <a:ext uri="{FF2B5EF4-FFF2-40B4-BE49-F238E27FC236}">
                <a16:creationId xmlns:a16="http://schemas.microsoft.com/office/drawing/2014/main" id="{F5BD8038-0274-74A9-9EBD-F154D6B52BC8}"/>
              </a:ext>
            </a:extLst>
          </p:cNvPr>
          <p:cNvPicPr>
            <a:picLocks noChangeAspect="1"/>
          </p:cNvPicPr>
          <p:nvPr/>
        </p:nvPicPr>
        <p:blipFill>
          <a:blip r:embed="rId3"/>
          <a:stretch>
            <a:fillRect/>
          </a:stretch>
        </p:blipFill>
        <p:spPr>
          <a:xfrm>
            <a:off x="358815" y="1349910"/>
            <a:ext cx="11516810" cy="465668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78033" y="197618"/>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Novelty and Uniqueness</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478033" y="659283"/>
            <a:ext cx="11301984" cy="6540252"/>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The proposed system is unique because it goes beyond a traditional chatbot and introduces a </a:t>
            </a:r>
            <a:r>
              <a:rPr lang="en-US" sz="1800" b="1" dirty="0">
                <a:latin typeface="Times New Roman" panose="02020603050405020304" pitchFamily="18" charset="0"/>
                <a:cs typeface="Times New Roman" panose="02020603050405020304" pitchFamily="18" charset="0"/>
              </a:rPr>
              <a:t>multi-agent, safety-driven, and proactive mental health support ecosystem</a:t>
            </a:r>
            <a:r>
              <a:rPr lang="en-US" sz="1800" dirty="0">
                <a:latin typeface="Times New Roman" panose="02020603050405020304" pitchFamily="18" charset="0"/>
                <a:cs typeface="Times New Roman" panose="02020603050405020304" pitchFamily="18" charset="0"/>
              </a:rPr>
              <a:t> powered by Agentic AI. Unlike existing mental health apps that provide static responses or simple conversational support, this system dynamically understands emotions, assesses risk levels, and takes appropriate action in real time.</a:t>
            </a:r>
          </a:p>
          <a:p>
            <a:pPr>
              <a:lnSpc>
                <a:spcPct val="150000"/>
              </a:lnSpc>
            </a:pPr>
            <a:r>
              <a:rPr lang="en-US" sz="1800" dirty="0">
                <a:latin typeface="Times New Roman" panose="02020603050405020304" pitchFamily="18" charset="0"/>
                <a:cs typeface="Times New Roman" panose="02020603050405020304" pitchFamily="18" charset="0"/>
              </a:rPr>
              <a:t>A key novelty is the use of a </a:t>
            </a:r>
            <a:r>
              <a:rPr lang="en-US" sz="1800" b="1" dirty="0">
                <a:latin typeface="Times New Roman" panose="02020603050405020304" pitchFamily="18" charset="0"/>
                <a:cs typeface="Times New Roman" panose="02020603050405020304" pitchFamily="18" charset="0"/>
              </a:rPr>
              <a:t>multi-agent architecture</a:t>
            </a:r>
            <a:r>
              <a:rPr lang="en-US" sz="1800" dirty="0">
                <a:latin typeface="Times New Roman" panose="02020603050405020304" pitchFamily="18" charset="0"/>
                <a:cs typeface="Times New Roman" panose="02020603050405020304" pitchFamily="18" charset="0"/>
              </a:rPr>
              <a:t>, where specialized agents independently handle emotion detection, risk analysis, conversational support, awareness generation, and crisis escalation. These agents collaborate intelligently to ensure that responses are not only empathetic but also context-aware and safety-focused.</a:t>
            </a:r>
          </a:p>
          <a:p>
            <a:pPr>
              <a:lnSpc>
                <a:spcPct val="150000"/>
              </a:lnSpc>
            </a:pPr>
            <a:r>
              <a:rPr lang="en-US" sz="1800" dirty="0">
                <a:latin typeface="Times New Roman" panose="02020603050405020304" pitchFamily="18" charset="0"/>
                <a:cs typeface="Times New Roman" panose="02020603050405020304" pitchFamily="18" charset="0"/>
              </a:rPr>
              <a:t>Another unique aspect is the integration of </a:t>
            </a:r>
            <a:r>
              <a:rPr lang="en-US" sz="1800" b="1" dirty="0">
                <a:latin typeface="Times New Roman" panose="02020603050405020304" pitchFamily="18" charset="0"/>
                <a:cs typeface="Times New Roman" panose="02020603050405020304" pitchFamily="18" charset="0"/>
              </a:rPr>
              <a:t>real-time suicide risk detection with escalation mechanisms</a:t>
            </a:r>
            <a:r>
              <a:rPr lang="en-US" sz="1800" dirty="0">
                <a:latin typeface="Times New Roman" panose="02020603050405020304" pitchFamily="18" charset="0"/>
                <a:cs typeface="Times New Roman" panose="02020603050405020304" pitchFamily="18" charset="0"/>
              </a:rPr>
              <a:t>, ensuring that high-risk users are immediately guided toward professional help, helplines, or human counselors. This makes the system proactive rather than reactive.</a:t>
            </a:r>
          </a:p>
          <a:p>
            <a:pPr>
              <a:lnSpc>
                <a:spcPct val="150000"/>
              </a:lnSpc>
            </a:pPr>
            <a:r>
              <a:rPr lang="en-US" sz="1800" dirty="0">
                <a:latin typeface="Times New Roman" panose="02020603050405020304" pitchFamily="18" charset="0"/>
                <a:cs typeface="Times New Roman" panose="02020603050405020304" pitchFamily="18" charset="0"/>
              </a:rPr>
              <a:t>The use of </a:t>
            </a:r>
            <a:r>
              <a:rPr lang="en-US" sz="1800" b="1" dirty="0">
                <a:latin typeface="Times New Roman" panose="02020603050405020304" pitchFamily="18" charset="0"/>
                <a:cs typeface="Times New Roman" panose="02020603050405020304" pitchFamily="18" charset="0"/>
              </a:rPr>
              <a:t>IBM Granite models within watsonx.ai</a:t>
            </a:r>
            <a:r>
              <a:rPr lang="en-US" sz="1800" dirty="0">
                <a:latin typeface="Times New Roman" panose="02020603050405020304" pitchFamily="18" charset="0"/>
                <a:cs typeface="Times New Roman" panose="02020603050405020304" pitchFamily="18" charset="0"/>
              </a:rPr>
              <a:t> enhances the system’s ability to generate human-like, emotionally sensitive, and personalized responses while maintaining strict safety guardrails to avoid harmful or misleading outputs.</a:t>
            </a:r>
          </a:p>
          <a:p>
            <a:pPr>
              <a:lnSpc>
                <a:spcPct val="150000"/>
              </a:lnSpc>
            </a:pPr>
            <a:r>
              <a:rPr lang="en-US" sz="1800" dirty="0">
                <a:latin typeface="Times New Roman" panose="02020603050405020304" pitchFamily="18" charset="0"/>
                <a:cs typeface="Times New Roman" panose="02020603050405020304" pitchFamily="18" charset="0"/>
              </a:rPr>
              <a:t>Additionally, the incorporation of </a:t>
            </a:r>
            <a:r>
              <a:rPr lang="en-US" sz="1800" b="1" dirty="0">
                <a:latin typeface="Times New Roman" panose="02020603050405020304" pitchFamily="18" charset="0"/>
                <a:cs typeface="Times New Roman" panose="02020603050405020304" pitchFamily="18" charset="0"/>
              </a:rPr>
              <a:t>RAG (Retrieval-Augmented Generation)</a:t>
            </a:r>
            <a:r>
              <a:rPr lang="en-US" sz="1800" dirty="0">
                <a:latin typeface="Times New Roman" panose="02020603050405020304" pitchFamily="18" charset="0"/>
                <a:cs typeface="Times New Roman" panose="02020603050405020304" pitchFamily="18" charset="0"/>
              </a:rPr>
              <a:t> ensures that all responses are grounded in verified mental health knowledge such as WHO guidelines and therapy-based coping strategies, improving trust and reliability.</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3D780-A9B1-261D-BB91-F1F7B5C12B33}"/>
              </a:ext>
            </a:extLst>
          </p:cNvPr>
          <p:cNvSpPr>
            <a:spLocks noGrp="1"/>
          </p:cNvSpPr>
          <p:nvPr>
            <p:ph type="title"/>
          </p:nvPr>
        </p:nvSpPr>
        <p:spPr>
          <a:xfrm>
            <a:off x="588781" y="494396"/>
            <a:ext cx="10515600" cy="2852737"/>
          </a:xfrm>
        </p:spPr>
        <p:txBody>
          <a:bodyPr>
            <a:noAutofit/>
          </a:bodyPr>
          <a:lstStyle/>
          <a:p>
            <a:pPr>
              <a:lnSpc>
                <a:spcPct val="150000"/>
              </a:lnSpc>
            </a:pPr>
            <a:br>
              <a:rPr lang="en-US" sz="1600" dirty="0"/>
            </a:br>
            <a:r>
              <a:rPr lang="en-US" sz="1800" dirty="0">
                <a:latin typeface="Times New Roman" panose="02020603050405020304" pitchFamily="18" charset="0"/>
                <a:cs typeface="Times New Roman" panose="02020603050405020304" pitchFamily="18" charset="0"/>
              </a:rPr>
              <a:t>The system also maintains </a:t>
            </a:r>
            <a:r>
              <a:rPr lang="en-US" sz="1800" b="1" dirty="0">
                <a:latin typeface="Times New Roman" panose="02020603050405020304" pitchFamily="18" charset="0"/>
                <a:cs typeface="Times New Roman" panose="02020603050405020304" pitchFamily="18" charset="0"/>
              </a:rPr>
              <a:t>long-term emotional context awareness</a:t>
            </a:r>
            <a:r>
              <a:rPr lang="en-US" sz="1800" dirty="0">
                <a:latin typeface="Times New Roman" panose="02020603050405020304" pitchFamily="18" charset="0"/>
                <a:cs typeface="Times New Roman" panose="02020603050405020304" pitchFamily="18" charset="0"/>
              </a:rPr>
              <a:t> using vector databases, allowing it to track user emotional patterns over time and provide personalized interventions rather than isolated responses.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Finally, the inclusion of </a:t>
            </a:r>
            <a:r>
              <a:rPr lang="en-US" sz="1800" b="1" dirty="0">
                <a:latin typeface="Times New Roman" panose="02020603050405020304" pitchFamily="18" charset="0"/>
                <a:cs typeface="Times New Roman" panose="02020603050405020304" pitchFamily="18" charset="0"/>
              </a:rPr>
              <a:t>AI safety guardrails, human-in-the-loop escalation, and ethical constraints</a:t>
            </a:r>
            <a:r>
              <a:rPr lang="en-US" sz="1800" dirty="0">
                <a:latin typeface="Times New Roman" panose="02020603050405020304" pitchFamily="18" charset="0"/>
                <a:cs typeface="Times New Roman" panose="02020603050405020304" pitchFamily="18" charset="0"/>
              </a:rPr>
              <a:t> makes the system highly responsible, ensuring that it supports users without replacing professional mental health care.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Overall, the novelty lies in combining </a:t>
            </a:r>
            <a:r>
              <a:rPr lang="en-US" sz="1800" b="1" dirty="0">
                <a:latin typeface="Times New Roman" panose="02020603050405020304" pitchFamily="18" charset="0"/>
                <a:cs typeface="Times New Roman" panose="02020603050405020304" pitchFamily="18" charset="0"/>
              </a:rPr>
              <a:t>Agentic AI + mental health safety + real-time risk intervention + grounded knowledge retrieval</a:t>
            </a:r>
            <a:r>
              <a:rPr lang="en-US" sz="1800" dirty="0">
                <a:latin typeface="Times New Roman" panose="02020603050405020304" pitchFamily="18" charset="0"/>
                <a:cs typeface="Times New Roman" panose="02020603050405020304" pitchFamily="18" charset="0"/>
              </a:rPr>
              <a:t> into a single intelligent, ethical, and scalable support system.</a:t>
            </a: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358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https://github.com/hamsavenir894-hash/MentalHealth-Agent</a:t>
            </a:r>
            <a:r>
              <a:rPr lang="en-IN" sz="1850" dirty="0">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32587" y="24510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latin typeface="Times New Roman" panose="02020603050405020304" pitchFamily="18" charset="0"/>
                <a:cs typeface="Times New Roman" panose="02020603050405020304" pitchFamily="18" charset="0"/>
                <a:sym typeface="Times New Roman"/>
              </a:rPr>
              <a:t>Future Scope </a:t>
            </a:r>
            <a:endParaRPr sz="2400" b="1" dirty="0">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32587" y="949124"/>
            <a:ext cx="10726826" cy="5663767"/>
          </a:xfrm>
          <a:prstGeom prst="rect">
            <a:avLst/>
          </a:prstGeom>
          <a:noFill/>
          <a:ln>
            <a:noFill/>
          </a:ln>
        </p:spPr>
        <p:txBody>
          <a:bodyPr spcFirstLastPara="1" wrap="square" lIns="0" tIns="0" rIns="0" bIns="0" anchor="t" anchorCtr="0">
            <a:noAutofit/>
          </a:bodyPr>
          <a:lstStyle/>
          <a:p>
            <a:pPr>
              <a:lnSpc>
                <a:spcPct val="150000"/>
              </a:lnSpc>
            </a:pPr>
            <a:r>
              <a:rPr lang="en-US" sz="1800" b="1" dirty="0">
                <a:latin typeface="Times New Roman" panose="02020603050405020304" pitchFamily="18" charset="0"/>
                <a:cs typeface="Times New Roman" panose="02020603050405020304" pitchFamily="18" charset="0"/>
              </a:rPr>
              <a:t>1. Integration with Wearables &amp; Digital Health Signals</a:t>
            </a:r>
          </a:p>
          <a:p>
            <a:pPr>
              <a:lnSpc>
                <a:spcPct val="150000"/>
              </a:lnSpc>
            </a:pPr>
            <a:r>
              <a:rPr lang="en-US" sz="1800" dirty="0">
                <a:latin typeface="Times New Roman" panose="02020603050405020304" pitchFamily="18" charset="0"/>
                <a:cs typeface="Times New Roman" panose="02020603050405020304" pitchFamily="18" charset="0"/>
              </a:rPr>
              <a:t>The system can be extended by integrating with smartwatches, fitness trackers, and mobile health sensors to collect real-time behavioral indicators such as sleep patterns, heart rate variability, physical activity levels, and stress signals. These physiological insights can help the Agentic AI system detect early warning signs of emotional distress more accurately. By combining biometric data with conversational inputs, the system can provide more proactive and timely mental health interventions, enabling early detection of anxiety, depression, or crisis states.</a:t>
            </a:r>
          </a:p>
          <a:p>
            <a:pPr>
              <a:lnSpc>
                <a:spcPct val="150000"/>
              </a:lnSpc>
            </a:pPr>
            <a:r>
              <a:rPr lang="en-US" sz="1800" b="1" dirty="0">
                <a:latin typeface="Times New Roman" panose="02020603050405020304" pitchFamily="18" charset="0"/>
                <a:cs typeface="Times New Roman" panose="02020603050405020304" pitchFamily="18" charset="0"/>
              </a:rPr>
              <a:t>2. AI-Powered Voice Assistant &amp; Multilingual Support</a:t>
            </a:r>
          </a:p>
          <a:p>
            <a:pPr>
              <a:lnSpc>
                <a:spcPct val="150000"/>
              </a:lnSpc>
            </a:pPr>
            <a:r>
              <a:rPr lang="en-US" sz="1800" dirty="0">
                <a:latin typeface="Times New Roman" panose="02020603050405020304" pitchFamily="18" charset="0"/>
                <a:cs typeface="Times New Roman" panose="02020603050405020304" pitchFamily="18" charset="0"/>
              </a:rPr>
              <a:t>The system can be enhanced with a voice-enabled AI assistant that allows users to express their emotions naturally through speech instead of text. This improves accessibility, especially during emotional distress when typing may be difficult. Additionally, integrating multilingual support enables users to interact in their native language, making the system more inclusive and culturally sensitive. This is particularly important for diverse populations, ensuring that mental health support is accessible across different regions, languages, and literacy levels.</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181337" y="2028257"/>
            <a:ext cx="11829326"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1279</TotalTime>
  <Words>2076</Words>
  <Application>Microsoft Office PowerPoint</Application>
  <PresentationFormat>Widescreen</PresentationFormat>
  <Paragraphs>95</Paragraphs>
  <Slides>21</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Promote mental health awareness and self-care practices  Provide empathetic and safe conversational support  Detect early warning signs using AI-driven analysis  Predict potential mental health risks proactively  Recommend coping strategies and preventive actions  Escalate high-risk situations to counselors, helplines, or trusted contacts with user consent  Ensure ethical AI practices, privacy, transparency, and human-in-the-loop safety mechanisms  The goal is to create a scalable, trustworthy, and socially impactful AI assistant that supports mental well-being and contributes toward suicide prevention through timely intervention and accessible mental health support. </vt:lpstr>
      <vt:lpstr>PowerPoint Presentation</vt:lpstr>
      <vt:lpstr>PowerPoint Presentation</vt:lpstr>
      <vt:lpstr>professionals through a Human-in-the-Loop system for real-time intervention. The entire system is designed with strict ethical safeguards, ensuring privacy protection, avoiding diagnostic labeling, minimizing dependency on AI, and maintaining human oversight for critical decisions. Deployed through mobile applications, messaging platforms, and institutional systems, this Agentic AI framework aims to provide early detection of mental health issues, reduce barriers to seeking help, and create a scalable digital safety net that supports individuals while complementing professional mental health services. </vt:lpstr>
      <vt:lpstr>PowerPoint Presentation</vt:lpstr>
      <vt:lpstr>Guardrails &amp; Safety Component – Ensures the system provides non-judgmental, non-diagnostic, and safe responses. It blocks harmful outputs, enforces empathetic tone, and ensures escalation protocols are followed in crisis situations. </vt:lpstr>
      <vt:lpstr>PowerPoint Presentation</vt:lpstr>
      <vt:lpstr>PowerPoint Presentation</vt:lpstr>
      <vt:lpstr>PowerPoint Presentation</vt:lpstr>
      <vt:lpstr>In addition, the agents continuously communicate with each other. For example, if the Emotion Analysis Agent detects severe distress, it immediately informs the Risk Assessment Agent and Crisis Escalation Agent to trigger urgent safety protocols, such as suggesting helplines or alerting human counselors. Overall, Agentic AI makes the system proactive, empathetic, and safety-oriented, acting like a responsible digital mental health assistant that not only supports users emotionally but also helps prevent suicide risks through early detection, continuous monitoring, and timely intervention. </vt:lpstr>
      <vt:lpstr>PowerPoint Presentation</vt:lpstr>
      <vt:lpstr>Vector Database (FAISS / ChromaDB) – Used for storing and retrieving mental health knowledge, past user emotional history, and coping strategies. It supports RAG-based retrieval for generating personalized and context-aware responses.  </vt:lpstr>
      <vt:lpstr>PowerPoint Presentation</vt:lpstr>
      <vt:lpstr>PowerPoint Presentation</vt:lpstr>
      <vt:lpstr> The system also maintains long-term emotional context awareness using vector databases, allowing it to track user emotional patterns over time and provide personalized interventions rather than isolated responses. Finally, the inclusion of AI safety guardrails, human-in-the-loop escalation, and ethical constraints makes the system highly responsible, ensuring that it supports users without replacing professional mental health care. Overall, the novelty lies in combining Agentic AI + mental health safety + real-time risk intervention + grounded knowledge retrieval into a single intelligent, ethical, and scalable support system.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Manisha R</cp:lastModifiedBy>
  <cp:revision>44</cp:revision>
  <dcterms:created xsi:type="dcterms:W3CDTF">2025-07-08T05:06:56Z</dcterms:created>
  <dcterms:modified xsi:type="dcterms:W3CDTF">2026-05-10T08:16:01Z</dcterms:modified>
</cp:coreProperties>
</file>